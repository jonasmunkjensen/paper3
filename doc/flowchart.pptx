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79A9AD-1AE0-491E-F418-C84A4458D5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547437B2-82CC-1297-F4C9-D5FC1926B0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1046F580-C95D-5776-75D2-CEECA754C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45574-4854-4465-BFCC-211F34F9E5C2}" type="datetimeFigureOut">
              <a:rPr lang="da-DK" smtClean="0"/>
              <a:t>28-05-2026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D4C04374-6B6D-23A9-531B-2D7E0AECE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EDCF1D9C-542C-F04E-85C3-48507D425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0253-CBCB-4946-9CB8-E305C0BEF59F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063568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F66277-FA4F-B559-C4F5-22966EA32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54284BC0-D7B7-F435-F5BC-14FCBCEC5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1DE38C22-4A73-BEA1-4679-7CBBD48F50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45574-4854-4465-BFCC-211F34F9E5C2}" type="datetimeFigureOut">
              <a:rPr lang="da-DK" smtClean="0"/>
              <a:t>28-05-2026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5CAE472B-5E18-667C-6D85-4724DCA26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721D07D0-23FF-F51C-E4B2-7370F9FD6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0253-CBCB-4946-9CB8-E305C0BEF59F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397538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599D2D-2759-172A-B090-80AD0AA78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335CBA13-DBAF-6742-D593-089CBAA87C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6A1055D4-3CF6-085C-35AA-F04CB624E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45574-4854-4465-BFCC-211F34F9E5C2}" type="datetimeFigureOut">
              <a:rPr lang="da-DK" smtClean="0"/>
              <a:t>28-05-2026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38C8656D-BC46-91BB-6BB4-25D8B2283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9BE1C65E-11F1-CB80-C653-431B43AC1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0253-CBCB-4946-9CB8-E305C0BEF59F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371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68B2D4-83D4-C283-305A-37751093F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99BBF7EF-B28C-4C35-CFE2-DD8E294069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5501E84F-9996-0D3A-D379-5932B0BD1B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F8A019C0-1743-CC25-AA8E-5751EFC04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45574-4854-4465-BFCC-211F34F9E5C2}" type="datetimeFigureOut">
              <a:rPr lang="da-DK" smtClean="0"/>
              <a:t>28-05-2026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836394AD-9FAD-C382-248A-7E5E3EF90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D5A0DF85-0C26-664A-0638-FB9DDB053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0253-CBCB-4946-9CB8-E305C0BEF59F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27268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34AFC0-3679-E709-6EBF-59EF998B4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D2902838-4A32-288C-0BB5-7C60FE4BDC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60A81B94-4EF8-CE9A-8BBE-4507B51C43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65F27A45-3085-530E-3098-B508EE8BEF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A4781081-9DF6-D10D-9D2B-467897B31C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7" name="Pladsholder til dato 6">
            <a:extLst>
              <a:ext uri="{FF2B5EF4-FFF2-40B4-BE49-F238E27FC236}">
                <a16:creationId xmlns:a16="http://schemas.microsoft.com/office/drawing/2014/main" id="{5406F2CA-1095-7CB8-3BF3-0B51B1141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45574-4854-4465-BFCC-211F34F9E5C2}" type="datetimeFigureOut">
              <a:rPr lang="da-DK" smtClean="0"/>
              <a:t>28-05-2026</a:t>
            </a:fld>
            <a:endParaRPr lang="da-DK"/>
          </a:p>
        </p:txBody>
      </p:sp>
      <p:sp>
        <p:nvSpPr>
          <p:cNvPr id="8" name="Pladsholder til sidefod 7">
            <a:extLst>
              <a:ext uri="{FF2B5EF4-FFF2-40B4-BE49-F238E27FC236}">
                <a16:creationId xmlns:a16="http://schemas.microsoft.com/office/drawing/2014/main" id="{8CC57261-A651-CC65-62B2-C6868BFCC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Pladsholder til slidenummer 8">
            <a:extLst>
              <a:ext uri="{FF2B5EF4-FFF2-40B4-BE49-F238E27FC236}">
                <a16:creationId xmlns:a16="http://schemas.microsoft.com/office/drawing/2014/main" id="{2546E6BB-ABF7-8D34-FC89-5DE63FC26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0253-CBCB-4946-9CB8-E305C0BEF59F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14712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F09844-FC90-F67A-8395-C92F34469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64028677-0B37-61B7-3D1D-6FB9A0375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45574-4854-4465-BFCC-211F34F9E5C2}" type="datetimeFigureOut">
              <a:rPr lang="da-DK" smtClean="0"/>
              <a:t>28-05-2026</a:t>
            </a:fld>
            <a:endParaRPr lang="da-DK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53523508-829F-AD2A-2ED2-5DA38A402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9F4EA689-D1B0-97CA-22F5-CE182ABB5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0253-CBCB-4946-9CB8-E305C0BEF59F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227445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>
            <a:extLst>
              <a:ext uri="{FF2B5EF4-FFF2-40B4-BE49-F238E27FC236}">
                <a16:creationId xmlns:a16="http://schemas.microsoft.com/office/drawing/2014/main" id="{60AC6B59-8782-F884-7A70-749B98D1CF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45574-4854-4465-BFCC-211F34F9E5C2}" type="datetimeFigureOut">
              <a:rPr lang="da-DK" smtClean="0"/>
              <a:t>28-05-2026</a:t>
            </a:fld>
            <a:endParaRPr lang="da-DK"/>
          </a:p>
        </p:txBody>
      </p:sp>
      <p:sp>
        <p:nvSpPr>
          <p:cNvPr id="3" name="Pladsholder til sidefod 2">
            <a:extLst>
              <a:ext uri="{FF2B5EF4-FFF2-40B4-BE49-F238E27FC236}">
                <a16:creationId xmlns:a16="http://schemas.microsoft.com/office/drawing/2014/main" id="{4FCB69A5-EA74-6172-76DC-BD146DC0B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F11C99A4-AFC0-690C-3718-35A63107B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0253-CBCB-4946-9CB8-E305C0BEF59F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608086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58177B-8F75-8273-972D-6B9177D87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70C227D-8F6A-79B8-CE4F-F84FB948DF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57D5BD81-C1B0-B49B-07A7-9E776E2F9F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439BAD89-9CD0-11EE-CE41-E3F6502A9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45574-4854-4465-BFCC-211F34F9E5C2}" type="datetimeFigureOut">
              <a:rPr lang="da-DK" smtClean="0"/>
              <a:t>28-05-2026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A0E171DD-7631-EBAF-41B6-CC88000CDB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4C123F2E-2687-B0BE-E38F-00795E3F9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0253-CBCB-4946-9CB8-E305C0BEF59F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276192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D5BCFC-4A3F-78E6-70EF-0D83EEFCC3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BE0B1C3A-6A8E-B536-94E2-180BDC9B16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2BD375F5-FD44-E1C0-6712-5A51660BB6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2BD7A919-B88B-91ED-E8DB-CF9B23E3F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45574-4854-4465-BFCC-211F34F9E5C2}" type="datetimeFigureOut">
              <a:rPr lang="da-DK" smtClean="0"/>
              <a:t>28-05-2026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6C8E4224-5052-F742-53A2-87C05366F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B52341D7-D286-AB91-3665-62E05AB54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0253-CBCB-4946-9CB8-E305C0BEF59F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499862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09BA50-2EDC-984C-E0F1-CFD26AC41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B22C04D5-2A04-E97C-E591-F224E97012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0079F9A6-4C52-344F-B10B-6E9F3BE79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45574-4854-4465-BFCC-211F34F9E5C2}" type="datetimeFigureOut">
              <a:rPr lang="da-DK" smtClean="0"/>
              <a:t>28-05-2026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16051F78-0773-D472-3354-D0A474FEF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8BA9030C-4322-C425-6B09-98C8D1998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0253-CBCB-4946-9CB8-E305C0BEF59F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5558703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et titel 1">
            <a:extLst>
              <a:ext uri="{FF2B5EF4-FFF2-40B4-BE49-F238E27FC236}">
                <a16:creationId xmlns:a16="http://schemas.microsoft.com/office/drawing/2014/main" id="{6AAF3D5C-878D-1ADC-547E-0253903A8C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4727FB7D-ECA8-1604-BD3D-8C42983A85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1770DA9-84A8-98E3-563B-43823B035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45574-4854-4465-BFCC-211F34F9E5C2}" type="datetimeFigureOut">
              <a:rPr lang="da-DK" smtClean="0"/>
              <a:t>28-05-2026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262C6213-16A3-7E4B-051B-851D1ABF7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ED73FE6B-B793-9794-18CF-2A1DA2567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0253-CBCB-4946-9CB8-E305C0BEF59F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45357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53C1B60A-59D0-25EC-6A93-673C4111A5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CD905E2C-9084-3555-B4E3-E9B00F0895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D66F65D5-48A4-2BFF-6238-86714E3677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45574-4854-4465-BFCC-211F34F9E5C2}" type="datetimeFigureOut">
              <a:rPr lang="da-DK" smtClean="0"/>
              <a:t>28-05-2026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B345E6E7-94A4-086A-FB17-7D82CC941E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AC04E0B2-EF62-4712-D2CB-540ACFE742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870253-CBCB-4946-9CB8-E305C0BEF59F}" type="slidenum">
              <a:rPr lang="da-DK" smtClean="0"/>
              <a:t>‹nr.›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565937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ktangel 3">
            <a:extLst>
              <a:ext uri="{FF2B5EF4-FFF2-40B4-BE49-F238E27FC236}">
                <a16:creationId xmlns:a16="http://schemas.microsoft.com/office/drawing/2014/main" id="{ACEE8C11-546B-E40C-6477-04F84151C792}"/>
              </a:ext>
            </a:extLst>
          </p:cNvPr>
          <p:cNvSpPr/>
          <p:nvPr/>
        </p:nvSpPr>
        <p:spPr>
          <a:xfrm>
            <a:off x="3017520" y="676656"/>
            <a:ext cx="3584448" cy="7589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1400" b="1" dirty="0"/>
              <a:t>Target population</a:t>
            </a:r>
          </a:p>
          <a:p>
            <a:pPr algn="ctr"/>
            <a:r>
              <a:rPr lang="da-DK" sz="1400" dirty="0"/>
              <a:t>Residens in Central Denmark Region, age 18-75 yr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782DF128-3C2F-E970-5C69-6245C86D7436}"/>
              </a:ext>
            </a:extLst>
          </p:cNvPr>
          <p:cNvSpPr/>
          <p:nvPr/>
        </p:nvSpPr>
        <p:spPr>
          <a:xfrm>
            <a:off x="3017520" y="1569720"/>
            <a:ext cx="3584448" cy="7589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1400" b="1" dirty="0" err="1"/>
              <a:t>Feb</a:t>
            </a:r>
            <a:r>
              <a:rPr lang="da-DK" sz="1400" b="1" dirty="0"/>
              <a:t> 2024</a:t>
            </a:r>
          </a:p>
          <a:p>
            <a:pPr algn="ctr"/>
            <a:r>
              <a:rPr lang="da-DK" sz="1400" dirty="0" err="1"/>
              <a:t>Questionnaire</a:t>
            </a:r>
            <a:r>
              <a:rPr lang="da-DK" sz="1400" dirty="0"/>
              <a:t> </a:t>
            </a:r>
            <a:r>
              <a:rPr lang="da-DK" sz="1400" dirty="0" err="1"/>
              <a:t>distributed</a:t>
            </a:r>
            <a:r>
              <a:rPr lang="da-DK" sz="1400" dirty="0"/>
              <a:t>,</a:t>
            </a:r>
          </a:p>
          <a:p>
            <a:pPr algn="ctr"/>
            <a:r>
              <a:rPr lang="da-DK" sz="1400" dirty="0"/>
              <a:t>n = 136.229 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4C06BB6A-6708-8692-5871-166249A34037}"/>
              </a:ext>
            </a:extLst>
          </p:cNvPr>
          <p:cNvSpPr/>
          <p:nvPr/>
        </p:nvSpPr>
        <p:spPr>
          <a:xfrm>
            <a:off x="3017520" y="2462784"/>
            <a:ext cx="3584448" cy="7589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1400" dirty="0" err="1"/>
              <a:t>Responders</a:t>
            </a:r>
            <a:r>
              <a:rPr lang="da-DK" sz="1400" dirty="0"/>
              <a:t>, </a:t>
            </a:r>
            <a:r>
              <a:rPr lang="da-DK" sz="1400" dirty="0" err="1"/>
              <a:t>questionnaire</a:t>
            </a:r>
            <a:r>
              <a:rPr lang="da-DK" sz="1400" dirty="0"/>
              <a:t>,</a:t>
            </a:r>
          </a:p>
          <a:p>
            <a:pPr algn="ctr"/>
            <a:r>
              <a:rPr lang="da-DK" sz="1400" dirty="0"/>
              <a:t>n = 56.730 (41,6%) </a:t>
            </a:r>
          </a:p>
        </p:txBody>
      </p:sp>
      <p:sp>
        <p:nvSpPr>
          <p:cNvPr id="7" name="Rektangel 6">
            <a:extLst>
              <a:ext uri="{FF2B5EF4-FFF2-40B4-BE49-F238E27FC236}">
                <a16:creationId xmlns:a16="http://schemas.microsoft.com/office/drawing/2014/main" id="{5FB1F7A7-820C-02FB-616C-7D4DCFDC63AD}"/>
              </a:ext>
            </a:extLst>
          </p:cNvPr>
          <p:cNvSpPr/>
          <p:nvPr/>
        </p:nvSpPr>
        <p:spPr>
          <a:xfrm>
            <a:off x="3017520" y="3355848"/>
            <a:ext cx="3584448" cy="7589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1400" dirty="0" err="1"/>
              <a:t>Concent</a:t>
            </a:r>
            <a:r>
              <a:rPr lang="da-DK" sz="1400" dirty="0"/>
              <a:t> to </a:t>
            </a:r>
            <a:r>
              <a:rPr lang="da-DK" sz="1400" dirty="0" err="1"/>
              <a:t>supplementary</a:t>
            </a:r>
            <a:r>
              <a:rPr lang="da-DK" sz="1400" dirty="0"/>
              <a:t> </a:t>
            </a:r>
            <a:r>
              <a:rPr lang="da-DK" sz="1400" dirty="0" err="1"/>
              <a:t>questionnaire</a:t>
            </a:r>
            <a:r>
              <a:rPr lang="da-DK" sz="1400" dirty="0"/>
              <a:t>,</a:t>
            </a:r>
          </a:p>
          <a:p>
            <a:pPr algn="ctr"/>
            <a:r>
              <a:rPr lang="da-DK" sz="1400" dirty="0"/>
              <a:t>n = ____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6FBF7D2D-10CD-C0CC-7C25-297349577E36}"/>
              </a:ext>
            </a:extLst>
          </p:cNvPr>
          <p:cNvSpPr/>
          <p:nvPr/>
        </p:nvSpPr>
        <p:spPr>
          <a:xfrm>
            <a:off x="3017520" y="4248912"/>
            <a:ext cx="3584448" cy="8442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1400" b="1" dirty="0" err="1"/>
              <a:t>Study</a:t>
            </a:r>
            <a:r>
              <a:rPr lang="da-DK" sz="1400" b="1" dirty="0"/>
              <a:t> </a:t>
            </a:r>
            <a:r>
              <a:rPr lang="da-DK" sz="1400" b="1" dirty="0" err="1"/>
              <a:t>group</a:t>
            </a:r>
            <a:endParaRPr lang="da-DK" sz="1400" b="1" dirty="0"/>
          </a:p>
          <a:p>
            <a:pPr algn="ctr"/>
            <a:r>
              <a:rPr lang="da-DK" sz="1400" dirty="0" err="1"/>
              <a:t>Responders</a:t>
            </a:r>
            <a:r>
              <a:rPr lang="da-DK" sz="1400" dirty="0"/>
              <a:t>, </a:t>
            </a:r>
            <a:r>
              <a:rPr lang="da-DK" sz="1400" dirty="0" err="1"/>
              <a:t>supplementary</a:t>
            </a:r>
            <a:r>
              <a:rPr lang="da-DK" sz="1400" dirty="0"/>
              <a:t> </a:t>
            </a:r>
            <a:r>
              <a:rPr lang="da-DK" sz="1400" dirty="0" err="1"/>
              <a:t>questionnaire</a:t>
            </a:r>
            <a:r>
              <a:rPr lang="da-DK" sz="1400" dirty="0"/>
              <a:t>,</a:t>
            </a:r>
          </a:p>
          <a:p>
            <a:pPr algn="ctr"/>
            <a:r>
              <a:rPr lang="da-DK" sz="1400" dirty="0"/>
              <a:t>n = 4.704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9C31850B-1F7C-01E8-F45F-7084BAABC3A6}"/>
              </a:ext>
            </a:extLst>
          </p:cNvPr>
          <p:cNvSpPr/>
          <p:nvPr/>
        </p:nvSpPr>
        <p:spPr>
          <a:xfrm>
            <a:off x="6204204" y="5489448"/>
            <a:ext cx="1709928" cy="8442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1400" dirty="0"/>
              <a:t>Non-participation,</a:t>
            </a:r>
          </a:p>
          <a:p>
            <a:pPr algn="ctr"/>
            <a:r>
              <a:rPr lang="da-DK" sz="1400" dirty="0"/>
              <a:t>n = </a:t>
            </a:r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71BFC6A4-0033-DA30-53D6-E891D8781DC9}"/>
              </a:ext>
            </a:extLst>
          </p:cNvPr>
          <p:cNvSpPr/>
          <p:nvPr/>
        </p:nvSpPr>
        <p:spPr>
          <a:xfrm>
            <a:off x="1805940" y="5489448"/>
            <a:ext cx="1709928" cy="8442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1400" dirty="0"/>
              <a:t>Participation,</a:t>
            </a:r>
          </a:p>
          <a:p>
            <a:pPr algn="ctr"/>
            <a:r>
              <a:rPr lang="da-DK" sz="1400" dirty="0"/>
              <a:t>n = </a:t>
            </a:r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6383523D-EA59-DB94-A752-BEE3E06346F3}"/>
              </a:ext>
            </a:extLst>
          </p:cNvPr>
          <p:cNvSpPr/>
          <p:nvPr/>
        </p:nvSpPr>
        <p:spPr>
          <a:xfrm>
            <a:off x="4224528" y="5751576"/>
            <a:ext cx="1170432" cy="320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1400" dirty="0" err="1"/>
              <a:t>Comparison</a:t>
            </a:r>
            <a:endParaRPr lang="da-DK" sz="1400" dirty="0"/>
          </a:p>
        </p:txBody>
      </p:sp>
      <p:cxnSp>
        <p:nvCxnSpPr>
          <p:cNvPr id="17" name="Lige pilforbindelse 16">
            <a:extLst>
              <a:ext uri="{FF2B5EF4-FFF2-40B4-BE49-F238E27FC236}">
                <a16:creationId xmlns:a16="http://schemas.microsoft.com/office/drawing/2014/main" id="{C5A5AE3C-CA9E-A07E-A3F7-858947942965}"/>
              </a:ext>
            </a:extLst>
          </p:cNvPr>
          <p:cNvCxnSpPr>
            <a:stCxn id="12" idx="1"/>
          </p:cNvCxnSpPr>
          <p:nvPr/>
        </p:nvCxnSpPr>
        <p:spPr>
          <a:xfrm flipH="1">
            <a:off x="3730752" y="5911596"/>
            <a:ext cx="49377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Lige pilforbindelse 17">
            <a:extLst>
              <a:ext uri="{FF2B5EF4-FFF2-40B4-BE49-F238E27FC236}">
                <a16:creationId xmlns:a16="http://schemas.microsoft.com/office/drawing/2014/main" id="{D4E1C290-B290-C8D9-676E-9C3A7A509C8C}"/>
              </a:ext>
            </a:extLst>
          </p:cNvPr>
          <p:cNvCxnSpPr>
            <a:cxnSpLocks/>
          </p:cNvCxnSpPr>
          <p:nvPr/>
        </p:nvCxnSpPr>
        <p:spPr>
          <a:xfrm rot="10800000" flipH="1">
            <a:off x="5394960" y="5911596"/>
            <a:ext cx="49377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Bue 34">
            <a:extLst>
              <a:ext uri="{FF2B5EF4-FFF2-40B4-BE49-F238E27FC236}">
                <a16:creationId xmlns:a16="http://schemas.microsoft.com/office/drawing/2014/main" id="{F750F219-0A07-7EB9-3C33-CA38782C6D38}"/>
              </a:ext>
            </a:extLst>
          </p:cNvPr>
          <p:cNvSpPr/>
          <p:nvPr/>
        </p:nvSpPr>
        <p:spPr>
          <a:xfrm rot="13320227">
            <a:off x="2315499" y="1012751"/>
            <a:ext cx="3818058" cy="4155081"/>
          </a:xfrm>
          <a:prstGeom prst="arc">
            <a:avLst/>
          </a:prstGeom>
          <a:ln w="19050" cap="flat" cmpd="sng" algn="ctr">
            <a:solidFill>
              <a:schemeClr val="dk1"/>
            </a:solidFill>
            <a:prstDash val="sys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6" name="Rektangel 35">
            <a:extLst>
              <a:ext uri="{FF2B5EF4-FFF2-40B4-BE49-F238E27FC236}">
                <a16:creationId xmlns:a16="http://schemas.microsoft.com/office/drawing/2014/main" id="{D695F0AE-5B50-9D71-010D-3A562BEE9312}"/>
              </a:ext>
            </a:extLst>
          </p:cNvPr>
          <p:cNvSpPr/>
          <p:nvPr/>
        </p:nvSpPr>
        <p:spPr>
          <a:xfrm>
            <a:off x="1069848" y="2977896"/>
            <a:ext cx="1330453" cy="48463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a-DK" sz="1400" dirty="0" err="1"/>
              <a:t>Attrition</a:t>
            </a:r>
            <a:r>
              <a:rPr lang="da-DK" sz="1400" dirty="0"/>
              <a:t> </a:t>
            </a:r>
            <a:r>
              <a:rPr lang="da-DK" sz="1400" dirty="0" err="1"/>
              <a:t>analysis</a:t>
            </a:r>
            <a:endParaRPr lang="da-DK" sz="1400" dirty="0"/>
          </a:p>
        </p:txBody>
      </p:sp>
    </p:spTree>
    <p:extLst>
      <p:ext uri="{BB962C8B-B14F-4D97-AF65-F5344CB8AC3E}">
        <p14:creationId xmlns:p14="http://schemas.microsoft.com/office/powerpoint/2010/main" val="6818654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</Words>
  <Application>Microsoft Office PowerPoint</Application>
  <PresentationFormat>Widescreen</PresentationFormat>
  <Paragraphs>18</Paragraphs>
  <Slides>1</Slides>
  <Notes>0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Office-tema</vt:lpstr>
      <vt:lpstr>PowerPoint-præsentation</vt:lpstr>
    </vt:vector>
  </TitlesOfParts>
  <Company>Region Midtjylland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Jonas Munk Jensen</dc:creator>
  <cp:lastModifiedBy>Jonas Munk Jensen</cp:lastModifiedBy>
  <cp:revision>4</cp:revision>
  <dcterms:created xsi:type="dcterms:W3CDTF">2026-05-28T11:59:25Z</dcterms:created>
  <dcterms:modified xsi:type="dcterms:W3CDTF">2026-05-29T07:29:55Z</dcterms:modified>
</cp:coreProperties>
</file>