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9A9AD-1AE0-491E-F418-C84A4458D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7437B2-82CC-1297-F4C9-D5FC1926B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046F580-C95D-5776-75D2-CEECA754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4C04374-6B6D-23A9-531B-2D7E0AEC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DCF1D9C-542C-F04E-85C3-48507D42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635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66277-FA4F-B559-C4F5-22966EA3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4284BC0-D7B7-F435-F5BC-14FCBCEC5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DE38C22-4A73-BEA1-4679-7CBBD48F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CAE472B-5E18-667C-6D85-4724DCA2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21D07D0-23FF-F51C-E4B2-7370F9FD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975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99D2D-2759-172A-B090-80AD0AA7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35CBA13-DBAF-6742-D593-089CBAA87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A1055D4-3CF6-085C-35AA-F04CB624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C8656D-BC46-91BB-6BB4-25D8B228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BE1C65E-11F1-CB80-C653-431B43A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7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8B2D4-83D4-C283-305A-37751093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9BBF7EF-B28C-4C35-CFE2-DD8E29406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501E84F-9996-0D3A-D379-5932B0BD1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8A019C0-1743-CC25-AA8E-5751EFC0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36394AD-9FAD-C382-248A-7E5E3EF9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5A0DF85-0C26-664A-0638-FB9DDB05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726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4AFC0-3679-E709-6EBF-59EF998B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2902838-4A32-288C-0BB5-7C60FE4BD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0A81B94-4EF8-CE9A-8BBE-4507B51C4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5F27A45-3085-530E-3098-B508EE8BE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4781081-9DF6-D10D-9D2B-467897B31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5406F2CA-1095-7CB8-3BF3-0B51B114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CC57261-A651-CC65-62B2-C6868BFC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546E6BB-ABF7-8D34-FC89-5DE63FC2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471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09844-FC90-F67A-8395-C92F3446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4028677-0B37-61B7-3D1D-6FB9A037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3523508-829F-AD2A-2ED2-5DA38A40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4EA689-D1B0-97CA-22F5-CE182ABB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744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0AC6B59-8782-F884-7A70-749B98D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FCB69A5-EA74-6172-76DC-BD146DC0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11C99A4-AFC0-690C-3718-35A63107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080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177B-8F75-8273-972D-6B9177D8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0C227D-8F6A-79B8-CE4F-F84FB948D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7D5BD81-C1B0-B49B-07A7-9E776E2F9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9BAD89-9CD0-11EE-CE41-E3F6502A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E171DD-7631-EBAF-41B6-CC88000C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C123F2E-2687-B0BE-E38F-00795E3F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761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5BCFC-4A3F-78E6-70EF-0D83EEFCC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E0B1C3A-6A8E-B536-94E2-180BDC9B1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BD375F5-FD44-E1C0-6712-5A51660BB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BD7A919-B88B-91ED-E8DB-CF9B23E3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C8E4224-5052-F742-53A2-87C05366F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52341D7-D286-AB91-3665-62E05AB5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998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9BA50-2EDC-984C-E0F1-CFD26AC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22C04D5-2A04-E97C-E591-F224E9701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079F9A6-4C52-344F-B10B-6E9F3BE7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6051F78-0773-D472-3354-D0A474FE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BA9030C-4322-C425-6B09-98C8D199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587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6AAF3D5C-878D-1ADC-547E-0253903A8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727FB7D-ECA8-1604-BD3D-8C42983A8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1770DA9-84A8-98E3-563B-43823B03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62C6213-16A3-7E4B-051B-851D1ABF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D73FE6B-B793-9794-18CF-2A1DA256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535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3C1B60A-59D0-25EC-6A93-673C4111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D905E2C-9084-3555-B4E3-E9B00F089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6F65D5-48A4-2BFF-6238-86714E367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45574-4854-4465-BFCC-211F34F9E5C2}" type="datetimeFigureOut">
              <a:rPr lang="da-DK" smtClean="0"/>
              <a:t>12-06-2026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345E6E7-94A4-086A-FB17-7D82CC941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C04E0B2-EF62-4712-D2CB-540ACFE74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70253-CBCB-4946-9CB8-E305C0BEF59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659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CEE8C11-546B-E40C-6477-04F84151C792}"/>
              </a:ext>
            </a:extLst>
          </p:cNvPr>
          <p:cNvSpPr/>
          <p:nvPr/>
        </p:nvSpPr>
        <p:spPr>
          <a:xfrm>
            <a:off x="3017520" y="448056"/>
            <a:ext cx="3584448" cy="987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b="1" dirty="0"/>
              <a:t>Target population</a:t>
            </a:r>
          </a:p>
          <a:p>
            <a:pPr algn="ctr"/>
            <a:r>
              <a:rPr lang="da-DK" sz="1400" dirty="0"/>
              <a:t>People with T2D in Central Denmark Region, age 18-75 yr</a:t>
            </a:r>
            <a:br>
              <a:rPr lang="da-DK" sz="1400" dirty="0"/>
            </a:br>
            <a:r>
              <a:rPr lang="da-DK" sz="1400" dirty="0"/>
              <a:t>n=72.343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82DF128-3C2F-E970-5C69-6245C86D7436}"/>
              </a:ext>
            </a:extLst>
          </p:cNvPr>
          <p:cNvSpPr/>
          <p:nvPr/>
        </p:nvSpPr>
        <p:spPr>
          <a:xfrm>
            <a:off x="3017520" y="1569720"/>
            <a:ext cx="3584448" cy="758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b="1" dirty="0" err="1"/>
              <a:t>Feb</a:t>
            </a:r>
            <a:r>
              <a:rPr lang="da-DK" sz="1400" b="1" dirty="0"/>
              <a:t> 2024</a:t>
            </a:r>
          </a:p>
          <a:p>
            <a:pPr algn="ctr"/>
            <a:r>
              <a:rPr lang="da-DK" sz="1400" dirty="0" err="1"/>
              <a:t>Questionnaire</a:t>
            </a:r>
            <a:r>
              <a:rPr lang="da-DK" sz="1400" dirty="0"/>
              <a:t> </a:t>
            </a:r>
            <a:r>
              <a:rPr lang="da-DK" sz="1400" dirty="0" err="1"/>
              <a:t>distributed</a:t>
            </a:r>
            <a:endParaRPr lang="da-DK" sz="1400" dirty="0"/>
          </a:p>
          <a:p>
            <a:pPr algn="ctr"/>
            <a:r>
              <a:rPr lang="da-DK" sz="1400" dirty="0"/>
              <a:t>n = ?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C06BB6A-6708-8692-5871-166249A34037}"/>
              </a:ext>
            </a:extLst>
          </p:cNvPr>
          <p:cNvSpPr/>
          <p:nvPr/>
        </p:nvSpPr>
        <p:spPr>
          <a:xfrm>
            <a:off x="3017520" y="2462784"/>
            <a:ext cx="3584448" cy="758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 err="1"/>
              <a:t>Responders</a:t>
            </a:r>
            <a:endParaRPr lang="da-DK" sz="1400" dirty="0"/>
          </a:p>
          <a:p>
            <a:pPr algn="ctr"/>
            <a:r>
              <a:rPr lang="da-DK" sz="1400" dirty="0"/>
              <a:t>n = 20.830 (??%) 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FB1F7A7-820C-02FB-616C-7D4DCFDC63AD}"/>
              </a:ext>
            </a:extLst>
          </p:cNvPr>
          <p:cNvSpPr/>
          <p:nvPr/>
        </p:nvSpPr>
        <p:spPr>
          <a:xfrm>
            <a:off x="3017520" y="3355848"/>
            <a:ext cx="3584448" cy="758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b="1" dirty="0" err="1"/>
              <a:t>Study</a:t>
            </a:r>
            <a:r>
              <a:rPr lang="da-DK" sz="1400" b="1" dirty="0"/>
              <a:t> </a:t>
            </a:r>
            <a:r>
              <a:rPr lang="da-DK" sz="1400" b="1" dirty="0" err="1"/>
              <a:t>group</a:t>
            </a:r>
            <a:r>
              <a:rPr lang="da-DK" sz="1400" b="1" dirty="0"/>
              <a:t> (W</a:t>
            </a:r>
            <a:r>
              <a:rPr lang="da-DK" sz="1400" b="1"/>
              <a:t>eightet</a:t>
            </a:r>
            <a:r>
              <a:rPr lang="da-DK" sz="1400" b="1" dirty="0"/>
              <a:t> </a:t>
            </a:r>
            <a:r>
              <a:rPr lang="da-DK" sz="1400" b="1" dirty="0" err="1"/>
              <a:t>analysis</a:t>
            </a:r>
            <a:r>
              <a:rPr lang="da-DK" sz="1400" b="1" dirty="0"/>
              <a:t>)</a:t>
            </a:r>
          </a:p>
          <a:p>
            <a:pPr algn="ctr"/>
            <a:r>
              <a:rPr lang="da-DK" sz="1400" dirty="0" err="1"/>
              <a:t>Concent</a:t>
            </a:r>
            <a:r>
              <a:rPr lang="da-DK" sz="1400" dirty="0"/>
              <a:t> to </a:t>
            </a:r>
            <a:r>
              <a:rPr lang="da-DK" sz="1400" dirty="0" err="1"/>
              <a:t>supplementary</a:t>
            </a:r>
            <a:r>
              <a:rPr lang="da-DK" sz="1400" dirty="0"/>
              <a:t> </a:t>
            </a:r>
            <a:r>
              <a:rPr lang="da-DK" sz="1400" dirty="0" err="1"/>
              <a:t>questionnaire</a:t>
            </a:r>
            <a:r>
              <a:rPr lang="da-DK" sz="1400" dirty="0"/>
              <a:t>,</a:t>
            </a:r>
          </a:p>
          <a:p>
            <a:pPr algn="ctr"/>
            <a:r>
              <a:rPr lang="da-DK" sz="1400" dirty="0"/>
              <a:t>n = 13.328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FBF7D2D-10CD-C0CC-7C25-297349577E36}"/>
              </a:ext>
            </a:extLst>
          </p:cNvPr>
          <p:cNvSpPr/>
          <p:nvPr/>
        </p:nvSpPr>
        <p:spPr>
          <a:xfrm>
            <a:off x="3017520" y="4248912"/>
            <a:ext cx="3584448" cy="8442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b="1" dirty="0" err="1"/>
              <a:t>Study</a:t>
            </a:r>
            <a:r>
              <a:rPr lang="da-DK" sz="1400" b="1" dirty="0"/>
              <a:t> </a:t>
            </a:r>
            <a:r>
              <a:rPr lang="da-DK" sz="1400" b="1" dirty="0" err="1"/>
              <a:t>group</a:t>
            </a:r>
            <a:r>
              <a:rPr lang="da-DK" sz="1400" b="1" dirty="0"/>
              <a:t> (</a:t>
            </a:r>
            <a:r>
              <a:rPr lang="da-DK" sz="1400" b="1" dirty="0" err="1"/>
              <a:t>Observed</a:t>
            </a:r>
            <a:r>
              <a:rPr lang="da-DK" sz="1400" b="1" dirty="0"/>
              <a:t> </a:t>
            </a:r>
            <a:r>
              <a:rPr lang="da-DK" sz="1400" b="1" dirty="0" err="1"/>
              <a:t>analysis</a:t>
            </a:r>
            <a:r>
              <a:rPr lang="da-DK" sz="1400" b="1" dirty="0"/>
              <a:t>)</a:t>
            </a:r>
          </a:p>
          <a:p>
            <a:pPr algn="ctr"/>
            <a:r>
              <a:rPr lang="da-DK" sz="1400" dirty="0" err="1"/>
              <a:t>Responders</a:t>
            </a:r>
            <a:r>
              <a:rPr lang="da-DK" sz="1400" dirty="0"/>
              <a:t>, </a:t>
            </a:r>
            <a:r>
              <a:rPr lang="da-DK" sz="1400" dirty="0" err="1"/>
              <a:t>supplementary</a:t>
            </a:r>
            <a:r>
              <a:rPr lang="da-DK" sz="1400" dirty="0"/>
              <a:t> </a:t>
            </a:r>
            <a:r>
              <a:rPr lang="da-DK" sz="1400" dirty="0" err="1"/>
              <a:t>questionnaire</a:t>
            </a:r>
            <a:r>
              <a:rPr lang="da-DK" sz="1400" dirty="0"/>
              <a:t>,</a:t>
            </a:r>
          </a:p>
          <a:p>
            <a:pPr algn="ctr"/>
            <a:r>
              <a:rPr lang="da-DK" sz="1400" dirty="0"/>
              <a:t>n = 4.704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9C31850B-1F7C-01E8-F45F-7084BAABC3A6}"/>
              </a:ext>
            </a:extLst>
          </p:cNvPr>
          <p:cNvSpPr/>
          <p:nvPr/>
        </p:nvSpPr>
        <p:spPr>
          <a:xfrm>
            <a:off x="6204204" y="5489448"/>
            <a:ext cx="1709928" cy="8442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Non-participation,</a:t>
            </a:r>
          </a:p>
          <a:p>
            <a:pPr algn="ctr"/>
            <a:r>
              <a:rPr lang="da-DK" sz="1400" dirty="0"/>
              <a:t>n = 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1BFC6A4-0033-DA30-53D6-E891D8781DC9}"/>
              </a:ext>
            </a:extLst>
          </p:cNvPr>
          <p:cNvSpPr/>
          <p:nvPr/>
        </p:nvSpPr>
        <p:spPr>
          <a:xfrm>
            <a:off x="1805940" y="5489448"/>
            <a:ext cx="1709928" cy="8442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Participation,</a:t>
            </a:r>
          </a:p>
          <a:p>
            <a:pPr algn="ctr"/>
            <a:r>
              <a:rPr lang="da-DK" sz="1400" dirty="0"/>
              <a:t>n = 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6383523D-EA59-DB94-A752-BEE3E06346F3}"/>
              </a:ext>
            </a:extLst>
          </p:cNvPr>
          <p:cNvSpPr/>
          <p:nvPr/>
        </p:nvSpPr>
        <p:spPr>
          <a:xfrm>
            <a:off x="4224528" y="5751576"/>
            <a:ext cx="1170432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 err="1"/>
              <a:t>Comparison</a:t>
            </a:r>
            <a:endParaRPr lang="da-DK" sz="1400" dirty="0"/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C5A5AE3C-CA9E-A07E-A3F7-858947942965}"/>
              </a:ext>
            </a:extLst>
          </p:cNvPr>
          <p:cNvCxnSpPr>
            <a:stCxn id="12" idx="1"/>
          </p:cNvCxnSpPr>
          <p:nvPr/>
        </p:nvCxnSpPr>
        <p:spPr>
          <a:xfrm flipH="1">
            <a:off x="3730752" y="5911596"/>
            <a:ext cx="493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D4E1C290-B290-C8D9-676E-9C3A7A509C8C}"/>
              </a:ext>
            </a:extLst>
          </p:cNvPr>
          <p:cNvCxnSpPr>
            <a:cxnSpLocks/>
          </p:cNvCxnSpPr>
          <p:nvPr/>
        </p:nvCxnSpPr>
        <p:spPr>
          <a:xfrm rot="10800000" flipH="1">
            <a:off x="5394960" y="5911596"/>
            <a:ext cx="493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Bue 34">
            <a:extLst>
              <a:ext uri="{FF2B5EF4-FFF2-40B4-BE49-F238E27FC236}">
                <a16:creationId xmlns:a16="http://schemas.microsoft.com/office/drawing/2014/main" id="{F750F219-0A07-7EB9-3C33-CA38782C6D38}"/>
              </a:ext>
            </a:extLst>
          </p:cNvPr>
          <p:cNvSpPr/>
          <p:nvPr/>
        </p:nvSpPr>
        <p:spPr>
          <a:xfrm rot="13320227">
            <a:off x="2315499" y="1012751"/>
            <a:ext cx="3818058" cy="4155081"/>
          </a:xfrm>
          <a:prstGeom prst="arc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D695F0AE-5B50-9D71-010D-3A562BEE9312}"/>
              </a:ext>
            </a:extLst>
          </p:cNvPr>
          <p:cNvSpPr/>
          <p:nvPr/>
        </p:nvSpPr>
        <p:spPr>
          <a:xfrm>
            <a:off x="1069848" y="2977896"/>
            <a:ext cx="1330453" cy="484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 err="1"/>
              <a:t>Attrition</a:t>
            </a:r>
            <a:r>
              <a:rPr lang="da-DK" sz="1400" dirty="0"/>
              <a:t> </a:t>
            </a:r>
            <a:r>
              <a:rPr lang="da-DK" sz="1400" dirty="0" err="1"/>
              <a:t>analysis</a:t>
            </a:r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68186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>Region Midtjylland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Munk Jensen</dc:creator>
  <cp:lastModifiedBy>Jonas Munk Jensen</cp:lastModifiedBy>
  <cp:revision>6</cp:revision>
  <dcterms:created xsi:type="dcterms:W3CDTF">2026-05-28T11:59:25Z</dcterms:created>
  <dcterms:modified xsi:type="dcterms:W3CDTF">2026-06-12T14:40:37Z</dcterms:modified>
</cp:coreProperties>
</file>